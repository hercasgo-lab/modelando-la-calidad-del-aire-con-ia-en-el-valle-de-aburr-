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2" r:id="rId3"/>
    <p:sldId id="317" r:id="rId4"/>
    <p:sldId id="318" r:id="rId5"/>
    <p:sldId id="319" r:id="rId6"/>
    <p:sldId id="320" r:id="rId7"/>
    <p:sldId id="321" r:id="rId8"/>
    <p:sldId id="329" r:id="rId9"/>
    <p:sldId id="322" r:id="rId10"/>
    <p:sldId id="330" r:id="rId11"/>
    <p:sldId id="323" r:id="rId12"/>
    <p:sldId id="324" r:id="rId13"/>
    <p:sldId id="325" r:id="rId14"/>
    <p:sldId id="326" r:id="rId15"/>
    <p:sldId id="327" r:id="rId16"/>
  </p:sldIdLst>
  <p:sldSz cx="12192000" cy="6858000"/>
  <p:notesSz cx="6858000" cy="9144000"/>
  <p:custDataLst>
    <p:tags r:id="rId17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B5A"/>
    <a:srgbClr val="F3FEFF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11/12/2025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E64793-6608-8EE6-0E92-288652D6CA7A}"/>
              </a:ext>
            </a:extLst>
          </p:cNvPr>
          <p:cNvSpPr txBox="1"/>
          <p:nvPr/>
        </p:nvSpPr>
        <p:spPr>
          <a:xfrm>
            <a:off x="893435" y="1889920"/>
            <a:ext cx="10405130" cy="44888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Este proyecto aplica técnicas de Machine </a:t>
            </a:r>
            <a:r>
              <a:rPr lang="es-CO" sz="24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Learning</a:t>
            </a: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para analizar cómo la radiancia solar, las anomalías energéticas y los eventos climáticos globales (ENSO) influyen en la calidad del aire (ICA_PM25) en el Valle de Aburrá.</a:t>
            </a:r>
            <a:endParaRPr lang="en-GB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La integración de datos </a:t>
            </a:r>
            <a:r>
              <a:rPr lang="es-CO" sz="24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multifuente</a:t>
            </a: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(SIATA, GOES</a:t>
            </a:r>
            <a:r>
              <a:rPr lang="es-CO" sz="2400" dirty="0">
                <a:solidFill>
                  <a:schemeClr val="bg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 y ERA5) permiti</a:t>
            </a: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construir un modelo de clasificación con </a:t>
            </a:r>
            <a:r>
              <a:rPr lang="es-CO" sz="24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Random</a:t>
            </a: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Forest, capaz de anticipar episodios de contaminación y explicar qué variables tienen mayor impacto.</a:t>
            </a:r>
            <a:endParaRPr lang="en-GB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Más allá del resultado técnico, el proyecto busca demostrar el valor de la inteligencia artificial aplicada a la gestión ambiental, ofreciendo una herramienta didáctica y práctica para la toma de decisiones y la educación en ciencia de datos.</a:t>
            </a:r>
            <a:endParaRPr lang="en-GB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ts val="5000"/>
              </a:lnSpc>
            </a:pP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1021975" y="1118310"/>
            <a:ext cx="1081447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3200" b="1" kern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Modelando la calidad del aire con IA en el Valle de Aburrá</a:t>
            </a:r>
            <a:r>
              <a:rPr lang="es-ES" sz="3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endParaRPr lang="en-GB" sz="32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4884233" y="1024619"/>
            <a:ext cx="8876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Contexto</a:t>
            </a:r>
            <a:endParaRPr lang="es-CO" sz="3600" b="1" dirty="0">
              <a:solidFill>
                <a:srgbClr val="242B5A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1B71C8-8521-452A-A94D-E1B9A4FC5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4" y="1670950"/>
            <a:ext cx="10873361" cy="46852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2798795" y="715689"/>
            <a:ext cx="5655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Planteamiento del problema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45D1AC-9A74-4943-B2F6-F88888ABEB6F}"/>
              </a:ext>
            </a:extLst>
          </p:cNvPr>
          <p:cNvSpPr txBox="1"/>
          <p:nvPr/>
        </p:nvSpPr>
        <p:spPr>
          <a:xfrm>
            <a:off x="1048215" y="1362020"/>
            <a:ext cx="10214517" cy="5630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La calidad del aire en el Valle de Aburrá se ve afectada por múltiples factores locales y globales. Sin embargo, aún existe dificultad para anticipar episodios de contaminación y explicar con claridad qué variables influyen más en el comportamiento del ICA_PM25.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Los datos disponibles provienen de fuentes diversas (SIATA,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16, ERA5) y presentan diferencias de resolución, sesgos y vacíos. Esto plantea el reto de integrar y depurar información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multifuente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para construir un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confiable.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CO" sz="12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El problema central es: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¿Cómo predecir la categoría mensual del ICA_PM25 (Bueno, Moderado, Otro) a partir de radiancia solar, anomalías energéticas y eventos ENSO, utilizando técnicas de Machine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Learning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?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576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A6401DB-D41C-4BB5-B461-4D2B74E89DE4}"/>
              </a:ext>
            </a:extLst>
          </p:cNvPr>
          <p:cNvSpPr txBox="1"/>
          <p:nvPr/>
        </p:nvSpPr>
        <p:spPr>
          <a:xfrm>
            <a:off x="609600" y="422454"/>
            <a:ext cx="10965366" cy="632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Objetivo General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Desarrollar un modelo de Machine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Learning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que clasifique la categoría mensual del ICA_PM25 en el Valle de Aburrá, utilizando variables de radiancia solar, anomalías energéticas y el contexto climático ENSO, para anticipar episodios de contaminación y fortalecer la explicación de sus causas.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Objetivos Específicos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Integrar datos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multifuente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(SIATA,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16, ERA5) en un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mensual confiable.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Entrenar y validar un modelo de clasificación (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Random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Forest) con métricas de desempeño (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Accuracy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y F1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Score).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Analizar la importancia de variables, identificando el peso relativo de radiancia, anomalías y ENSO.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Comparar fuentes de radiancia para evaluar sesgos y su impacto en el modelo.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Proponer mejoras en la cobertura y balance de datos para aumentar la capacidad predictiva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98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4774772" y="422455"/>
            <a:ext cx="2642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Metodología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C4A39-16DB-4E35-A130-01F50F5E15AD}"/>
              </a:ext>
            </a:extLst>
          </p:cNvPr>
          <p:cNvSpPr txBox="1"/>
          <p:nvPr/>
        </p:nvSpPr>
        <p:spPr>
          <a:xfrm>
            <a:off x="356839" y="1068785"/>
            <a:ext cx="11530361" cy="464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El proyecto se desarrolló siguiendo un flujo estructurado de análisis y modelado: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Recolección y exploración de datos: integración de fuentes SIATA,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 y ERA5.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Limpieza y preparación: homogenización temporal, tratamiento de valores faltantes y codificación de variables categóricas.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Visualización exploratoria: gráficos comparativos para identificar patrones y sesgos entre fuentes.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Ingeniería del modelo: construcción del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Merge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 y entrenamiento con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Random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Forest.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Evaluación del modelo: métricas de desempeño (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Accuracy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y F1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Score) y an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lisis de importancia de variables.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Interpretación de hallazgos: conexión entre radiancia, ENSO y calidad del aire.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021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2642490" y="422455"/>
            <a:ext cx="6907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Recolección y Exploración de Datos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33E8DD-BBC9-4848-9E97-0C165C582C5C}"/>
              </a:ext>
            </a:extLst>
          </p:cNvPr>
          <p:cNvSpPr txBox="1"/>
          <p:nvPr/>
        </p:nvSpPr>
        <p:spPr>
          <a:xfrm>
            <a:off x="713677" y="1503059"/>
            <a:ext cx="10905893" cy="344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Fuentes integradas: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•SIATA: mediciones locales de radiación y calidad del aire; •GOES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16: radiancia y energ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 solar desde sat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lite; • ERA5: reanálisis climático global con coherencia temporal y espacial.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Periodo analizado: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2017 – 2020, con resolución mensual (Mes × Año).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Exploración inicial: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•Identificación de ciclos estacionales en radiancia y calidad del aire; •Detección de valores faltantes y anomalías en las series; •Comparación entre fuentes para evaluar sesgos y consistencia; •Hallazgo clave: ENSO modula la radiancia y, en consecuencia, influye en la variabilidad del ICA_PM25.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492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2522699" y="369576"/>
            <a:ext cx="6660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Preparación o Limpieza de Datos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26FFBE0-77C7-4DF9-B141-C7FCEC1A779C}"/>
              </a:ext>
            </a:extLst>
          </p:cNvPr>
          <p:cNvSpPr txBox="1"/>
          <p:nvPr/>
        </p:nvSpPr>
        <p:spPr>
          <a:xfrm>
            <a:off x="579863" y="1104103"/>
            <a:ext cx="10950498" cy="443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Homogeneización temporal: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Todas las fuentes se ajustaron a resolución mensual (Mes × Año) para asegurar comparabilidad.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Tratamiento de valores faltantes: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•Interpolación lineal en series continuas; •Promedios móviles en ICA_PM25; •Eliminación de registros incompletos.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Control de valores atípicos: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•Identificación con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boxplots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y dispersión; •Corrección/eliminación de valores extremos incoherentes (ej. radiancia negativa).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Transformación de variables: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•Codificación categórica (ENSO y Fuente → variables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dummy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),•Normalización de energía y anomalías para estabilidad del modelo.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Resultado final: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consolidado con columnas limpias y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consistentes:Año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, Energía kWh/m²/día, Anomalía W/m², ENSO, Fuente, ICA_PM25.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846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2668170" y="340798"/>
            <a:ext cx="6855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Visualización exploratoria de datos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ACC556-3CAE-48C0-8C2A-4840A68D4E84}"/>
              </a:ext>
            </a:extLst>
          </p:cNvPr>
          <p:cNvSpPr txBox="1"/>
          <p:nvPr/>
        </p:nvSpPr>
        <p:spPr>
          <a:xfrm>
            <a:off x="691375" y="1007218"/>
            <a:ext cx="10749775" cy="5124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Visualización exploratoria de datos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Radiancia y energía solar: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Series temporales mostraron variabilidad mensual entre 2017–2020; •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Boxplots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evidenciaron sesgos entre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16, ERA5 y SIATA; • Anomalías reflejaron la influencia de ENSO (El Niño → radiancia positiva, La Niña → negativa).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Calidad del aire (ICA_PM25):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Histogramas revelaron predominio de la categoría Moderado; • Gráficas de dispersión mostraron relación entre radiancia alta y empeoramiento del ICA; • Mapas de calor conectaron ENSO con variaciones en ICA y radiancia.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Relaciones clave: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Más radiancia → mayor formación de ozono → ICA más alto; • ENSO moduló la radiancia y, en consecuencia, la calidad del aire; •Visualizaciones facilitaron la explicación didáctica y validaron el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Merge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 como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principal.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013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3623984" y="667781"/>
            <a:ext cx="4402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Ingeniería del Modelo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7C5542-0851-4771-AE62-DDA14897561B}"/>
              </a:ext>
            </a:extLst>
          </p:cNvPr>
          <p:cNvSpPr txBox="1"/>
          <p:nvPr/>
        </p:nvSpPr>
        <p:spPr>
          <a:xfrm>
            <a:off x="579863" y="1400466"/>
            <a:ext cx="10905893" cy="443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Ingeniería del Modelo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principal (</a:t>
            </a:r>
            <a:r>
              <a:rPr lang="es-CO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Merge</a:t>
            </a: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1):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Integración de ICA_PM25, radiancia/energía mensual y ENSO en un solo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DataFrame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Codificación de variables: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ENSO y Fuente transformados en variables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dummy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; • Energía y anomalías normalizadas para mejorar estabilidad del entrenamiento.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Algoritmo seleccionado: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Random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Forest, por su robustez y capacidad de manejar variables mixtas; • División en conjuntos de entrenamiento y prueba para garantizar representatividad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</a:t>
            </a: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Objetivo del modelo: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Clasificar la categoría mensual del ICA_PM25 (Bueno, Moderado, Otro) y evaluar la importancia relativa de las variables.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6293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3601682" y="578572"/>
            <a:ext cx="4529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Evaluación del Modelo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F958C1-34ED-4C33-9032-6A2F99E0DB99}"/>
              </a:ext>
            </a:extLst>
          </p:cNvPr>
          <p:cNvSpPr txBox="1"/>
          <p:nvPr/>
        </p:nvSpPr>
        <p:spPr>
          <a:xfrm>
            <a:off x="557561" y="1349170"/>
            <a:ext cx="10816683" cy="414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Algoritmo aplicado: </a:t>
            </a:r>
            <a:r>
              <a:rPr lang="es-CO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Random</a:t>
            </a: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Forest, entrenado con el </a:t>
            </a:r>
            <a:r>
              <a:rPr lang="es-CO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Merge</a:t>
            </a: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1.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Métricas utilizadas: 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Accuracy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≈ 85% en clasificación general.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F1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Score: • Clase Moderado → ≈ 0.93 (mejor desempeño); • Clase Otro → desempeño aceptable; • Clase Bueno → bajo desempeño por desbalance de datos.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Importancia de variables: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Anomalía W/m² y Energía kWh/m²/día fueron las más influyentes; •ENSO y Año aportaron contexto, pero con menor peso relativo.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Limitaciones: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Desbalance de clases afectó la predicción de Bueno; •Cobertura temporal reducida (2017–2020) limita la generalización.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3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3267146" y="333245"/>
            <a:ext cx="516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Hallazgos e interpretación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7245610-A567-41CF-A60F-8E91544FD29E}"/>
              </a:ext>
            </a:extLst>
          </p:cNvPr>
          <p:cNvSpPr txBox="1"/>
          <p:nvPr/>
        </p:nvSpPr>
        <p:spPr>
          <a:xfrm>
            <a:off x="420029" y="1312821"/>
            <a:ext cx="11351941" cy="47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Calidad del aire (ICA_PM25):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• Predominio de la categoría Moderado; • Escasez de registros Bueno, lo que generó desbalance de clases; • Picos de contaminación coincidieron con alta radiancia y baja dispersión.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Radiancia y energía solar: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Mayor estabilidad en temporadas secas; variabilidad en lluviosas; •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 mostr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sesgos positivos; ERA5 fue más consistente frente a SIATA; • Las anomalías de radiancia fueron determinantes en la predicción del ICA.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ENSO y clima: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El Niño: radiancia positiva → mayor formación de ozono → ICA más alto; • La Niña: radiancia negativa → lluvias intensas → mejor dispersión de contaminantes.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Interpretación del modelo: 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Accuracy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≈ 85%, con mejor desempeño en la clase Moderado; • Variables más influyentes: Anomalía W/m² y Energía kWh/m²/día; • ENSO aportó contexto, pero con menor peso relativo.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8440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4749317" y="486640"/>
            <a:ext cx="2693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Conclusiones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F0B082-68C6-49B1-B57D-A55877445518}"/>
              </a:ext>
            </a:extLst>
          </p:cNvPr>
          <p:cNvSpPr txBox="1"/>
          <p:nvPr/>
        </p:nvSpPr>
        <p:spPr>
          <a:xfrm>
            <a:off x="564995" y="1106215"/>
            <a:ext cx="11062010" cy="5725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La radiancia solar y sus anomalías son las variables más determinantes en la predicción del ICA_PM25.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El fenómeno ENSO aporta contexto climático global, pero con menor peso frente a la variabilidad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radiativa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directa.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El modelo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Random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Forest alcanzó un desempeño sólido (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Accuracy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≈ 85%), con mejor rendimiento en la clase Moderado.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La categoría Bueno no pudo ser modelada con precisión debido al desbalance de clases, lo que limita la generalización.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La integración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multifuente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(SIATA,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16, ERA5) permiti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construir un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confiable y did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ctico, aunque con restricciones temporales (2017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2020) y sesgos propios de cada fuente.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El proyecto demuestra el potencial de la IA aplicada a la gestión ambiental, aportando valor académico y práctico.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209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4264088" y="511665"/>
            <a:ext cx="366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Recomendaciones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016FE8-3101-464B-8043-5DFB583BF20E}"/>
              </a:ext>
            </a:extLst>
          </p:cNvPr>
          <p:cNvSpPr txBox="1"/>
          <p:nvPr/>
        </p:nvSpPr>
        <p:spPr>
          <a:xfrm>
            <a:off x="602165" y="1157996"/>
            <a:ext cx="10950497" cy="5329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Balancear clases: aplicar técnicas como SMOTE o ampliar la recolección de datos para mejorar la predicción de la categoría Bueno.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Ampliar cobertura temporal y espacial: incluir más años y estaciones para robustecer la capacidad de generalización del modelo.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Agregar variables meteorológicas complementarias: viento, precipitación y nubosidad para enriquecer el contexto climático.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Explicabilidad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avanzada: utilizar herramientas como SHAP para interpretar mejor el peso de cada variable en las decisiones del modelo.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Validación cruzada: comparar sistemáticamente los resultados entre SIATA, GOES</a:t>
            </a:r>
            <a:r>
              <a:rPr lang="es-CO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‑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16 y ERA5 para evaluar confiabilidad y sesgos.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• 	Aplicación práctica: implementar el modelo como apoyo en sistemas de alerta temprana ambiental, gestión energética y educación en ciencia de datos.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7501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4486424" y="1058675"/>
            <a:ext cx="32191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rgbClr val="242B5A"/>
                </a:solidFill>
              </a:rPr>
              <a:t>Enlace a GitHub</a:t>
            </a:r>
            <a:endParaRPr lang="es-CO" sz="3600" b="1" dirty="0">
              <a:solidFill>
                <a:srgbClr val="242B5A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E8A6CF-50E0-4B13-96AB-5FD54CE75962}"/>
              </a:ext>
            </a:extLst>
          </p:cNvPr>
          <p:cNvSpPr txBox="1"/>
          <p:nvPr/>
        </p:nvSpPr>
        <p:spPr>
          <a:xfrm>
            <a:off x="966439" y="2183816"/>
            <a:ext cx="10259122" cy="2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[Repositorio del proyecto en GitHub] (aquí insertas tu enlace real al repositorio)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Incluye el código, </a:t>
            </a:r>
            <a:r>
              <a:rPr lang="es-CO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dataset</a:t>
            </a: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consolidado y documentación metodológica para consulta y reutilización.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Muchas gracias. Gracias por su atención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Modelando la calidad del aire con IA en el Valle de Aburrá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Ciencia de datos aplicada a la gestión ambiental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779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05DF481-48F1-4C4E-B7E6-3481855706B8}"/>
              </a:ext>
            </a:extLst>
          </p:cNvPr>
          <p:cNvSpPr txBox="1"/>
          <p:nvPr/>
        </p:nvSpPr>
        <p:spPr>
          <a:xfrm>
            <a:off x="3222870" y="4203245"/>
            <a:ext cx="6037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200" b="1" dirty="0">
                <a:solidFill>
                  <a:srgbClr val="242B5A"/>
                </a:solidFill>
              </a:rPr>
              <a:t>Muchas gracias</a:t>
            </a:r>
            <a:endParaRPr lang="es-CO" sz="7200" b="1" dirty="0">
              <a:solidFill>
                <a:srgbClr val="242B5A"/>
              </a:solidFill>
            </a:endParaRPr>
          </a:p>
        </p:txBody>
      </p:sp>
      <p:pic>
        <p:nvPicPr>
          <p:cNvPr id="1026" name="Picture 2" descr="El análisis de datos como una solución de negocios IoT - CIC">
            <a:extLst>
              <a:ext uri="{FF2B5EF4-FFF2-40B4-BE49-F238E27FC236}">
                <a16:creationId xmlns:a16="http://schemas.microsoft.com/office/drawing/2014/main" id="{1439C181-5A41-4DAD-9DFA-A52A0F0C2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20" y="244048"/>
            <a:ext cx="5087889" cy="419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3486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1661</Words>
  <Application>Microsoft Office PowerPoint</Application>
  <PresentationFormat>Panorámica</PresentationFormat>
  <Paragraphs>81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Roboto Black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Hernan Castellanos Gomez</cp:lastModifiedBy>
  <cp:revision>47</cp:revision>
  <dcterms:created xsi:type="dcterms:W3CDTF">2024-01-29T20:34:43Z</dcterms:created>
  <dcterms:modified xsi:type="dcterms:W3CDTF">2025-12-12T03:39:07Z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</Properties>
</file>